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54864" cy="68580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999713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11827"/>
                </a:solidFill>
                <a:latin typeface="Segoe UI"/>
              </a:rPr>
              <a:t>Erajaya Value-Added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99971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374151"/>
                </a:solidFill>
                <a:latin typeface="Segoe UI"/>
              </a:rPr>
              <a:t>Odoo Hub — Centralized ERP Platform for Erajaya Group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1645920" cy="4572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97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Segoe UI"/>
              </a:rPr>
              <a:t>Internal Business Presentation  ·  Product Owner VAS  ·  Mei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Odoo 19 Platform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Segoe UI"/>
              </a:rPr>
              <a:t>Odoo Hub: platform terpusat untuk percepatan delivery ERP lintas vertikal Erajaya Group.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1127729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●  Centralized Module Repository — 1 sumber kebenaran modul, reusable lintas vertikal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●  Simplified Deployment — provisioning tenant baru otomatis via orchestrator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●  Centralized Monitoring — 1 control plane untuk seluruh tenant operasional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●  Mandays implementasi turun signifikan karena modul standar siap pakai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303520"/>
            <a:ext cx="2613583" cy="10058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303520"/>
            <a:ext cx="54864" cy="10058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376672"/>
            <a:ext cx="233926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Segoe UI"/>
              </a:rPr>
              <a:t>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97880"/>
            <a:ext cx="23392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Modul Siap Pakai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5103" y="5303520"/>
            <a:ext cx="2613583" cy="10058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45103" y="5303520"/>
            <a:ext cx="54864" cy="10058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7983" y="5376672"/>
            <a:ext cx="233926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Segoe UI"/>
              </a:rPr>
              <a:t>~70%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7983" y="5897880"/>
            <a:ext cx="23392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Modul Reusable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303520"/>
            <a:ext cx="2613583" cy="10058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5303520"/>
            <a:ext cx="54864" cy="10058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5376672"/>
            <a:ext cx="233926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Segoe UI"/>
              </a:rPr>
              <a:t>~77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5887" y="5897880"/>
            <a:ext cx="23392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Mandays / Tenant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20911" y="5303520"/>
            <a:ext cx="2613583" cy="10058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20911" y="5303520"/>
            <a:ext cx="54864" cy="10058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3791" y="5376672"/>
            <a:ext cx="233926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Segoe UI"/>
              </a:rPr>
              <a:t>99.5%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3791" y="5897880"/>
            <a:ext cx="233926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SLA Target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Hub Platform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Odoo 19 Platform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164592" cy="969264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005840"/>
            <a:ext cx="11112703" cy="969264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051560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Segoe UI"/>
              </a:rPr>
              <a:t>AI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417320"/>
            <a:ext cx="1082009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Segoe UI"/>
              </a:rPr>
              <a:t>ai-gateway (Claude / OpenAI / Ollama) · Ask-AI, anomaly inbox, NLQ, OCR receipt, churn prediction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84832"/>
            <a:ext cx="164592" cy="969264"/>
          </a:xfrm>
          <a:prstGeom prst="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" y="2084832"/>
            <a:ext cx="11112703" cy="969264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130552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Segoe UI"/>
              </a:rPr>
              <a:t>Observability Plane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496312"/>
            <a:ext cx="1082009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Segoe UI"/>
              </a:rPr>
              <a:t>Prometheus · Grafana · Loki · Alertmanager · custom-predictor (capacity forecast lintas tenant)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63824"/>
            <a:ext cx="164592" cy="969264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3163824"/>
            <a:ext cx="11112703" cy="969264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209544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Segoe UI"/>
              </a:rPr>
              <a:t>Multi-Tenant Runtime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75304"/>
            <a:ext cx="1082009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Segoe UI"/>
              </a:rPr>
              <a:t>Odoo 19 + 82 custom modules · DB-per-tenant · Caddy/nginx + TLS · Redis · object storage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42816"/>
            <a:ext cx="164592" cy="969264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4242816"/>
            <a:ext cx="11112703" cy="969264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288536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Segoe UI"/>
              </a:rPr>
              <a:t>Tenant Orchestrator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654296"/>
            <a:ext cx="1082009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Segoe UI"/>
              </a:rPr>
              <a:t>FastAPI service: SSH bootstrap, Docker stack, DB create, module install, mail config — semua otomatis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21808"/>
            <a:ext cx="164592" cy="969264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" y="5321808"/>
            <a:ext cx="11112703" cy="969264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367528"/>
            <a:ext cx="108200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Segoe UI"/>
              </a:rPr>
              <a:t>Centralized Module Repository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33288"/>
            <a:ext cx="1082009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Segoe UI"/>
              </a:rPr>
              <a:t>Single source of truth 82 modul (core · ee-gap · localized · ops · vertical template) · LGPL-3 · CI-tested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High-Level Architecture (Linux-based)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Odoo 19 Platform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Stack berjalan di atas Linux host dengan Docker — open, portable, dan tanpa lock-in 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6400800" cy="49834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┌──────────────────────────────────────────────────────┐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│  Linux Host  (Ubuntu 22.04 LTS · bare-metal / VPS)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├──────────────────────────────────────────────────────┤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│  Docker Engine 24+  ·  Compose v2  ·  systemd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├──────────────────────────────────────────────────────┤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│  Container Network (bridge)          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│                                      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│  ┌────────┐   ┌────────┐   ┌────────┐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│  │ Caddy  │ → │  Odoo  │ ← │ AI GW  │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│  │ TLS LB │   │workers │   │FastAPI │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│  └───┬────┘   └───┬────┘   └───┬────┘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│      │            │            │     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│  ┌───▼────┐   ┌───▼────┐   ┌───▼────┐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│  │ Redis  │   │Postgres│   │ Ollama │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│  │ cache  │   │  15+   │   │ local  │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│  └────────┘   └────────┘   └────────┘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│                                      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│  ┌──────────┐ ┌─────────┐ ┌──────┐ ┌─────────────┐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│  │Prometheus│ │ Grafana │ │ Loki │ │Alertmanager │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│  └──────────┘ └─────────┘ └──────┘ └─────────────┘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├──────────────────────────────────────────────────────┤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│  Persistent Volumes  (filestore · DB · logs · backup)│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├──────────────────────────────────────────────────────┤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│  Kernel hardening: AppArmor · seccomp · namespaces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└──────────────────────────────────────────────────────┘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417320"/>
            <a:ext cx="4602175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0" y="1874520"/>
            <a:ext cx="4602175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1490472"/>
            <a:ext cx="432785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Key Decisions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901952"/>
            <a:ext cx="4602175" cy="449884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1965960"/>
            <a:ext cx="423641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OS: Ubuntu 22.04 LTS — 5 tahun security update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Runtime: Docker 24+ + Compose v2, non-root user di tiap container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Image hardening: distroless / Alpine base, CIS-aligned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Storage: persistent volumes (filestore, DB, log, backup) bind-mount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Network: bridge internal; hanya Caddy expose port 80/443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Firewall: UFW / iptables — port 22 (SSH ops VPN), 80, 443 saja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TLS: Caddy ACME (Let's Encrypt) auto-renew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Patch: unattended-upgrades untuk security patches OS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Backup: pg_dumpall nightly + filestore rsync ke object storage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Portable: stack sama untuk on-prem, VPS, atau cloud (AWS/GCP/Azure)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Centralized Module Repository — Reuse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Odoo 19 Platform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Modul kunci dipakai ulang lintas 6 vertikal Erajaya — bukan develop ulang per tenant.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08760"/>
          <a:ext cx="11277291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0470"/>
                <a:gridCol w="1170866"/>
                <a:gridCol w="1170866"/>
                <a:gridCol w="1232491"/>
                <a:gridCol w="1170866"/>
                <a:gridCol w="1170866"/>
                <a:gridCol w="1170866"/>
              </a:tblGrid>
              <a:tr h="295656">
                <a:tc>
                  <a:txBody>
                    <a:bodyPr lIns="73152" rIns="73152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Module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F&amp;B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Active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Eraspace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Distrib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Service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Corp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295656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custom_core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95656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custom_accounting_full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custom_hr_payroll_id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95656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custom_attendance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custom_approval_engine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95656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custom_pdp_* (6 modul)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custom_coretax + bupot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95656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custom_helpdesk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custom_whatsapp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95656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custom_pos_id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custom_ecommerce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95656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custom_wms_* (3 modul)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custom_field_service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95656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custom_subscription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989320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Note: ~70% modul shared lintas vertikal · ~30% extension vertical-specific. Modul baru ditambahkan sekali di repo → langsung tersedia untuk semua tenant.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Module Library — Capability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Odoo 19 Platform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73152" cy="16916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1005840"/>
            <a:ext cx="5451195" cy="169164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097280"/>
            <a:ext cx="51585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Segoe UI"/>
              </a:rPr>
              <a:t>Finance &amp; Tax (Indonesian-localized, ready)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463040"/>
            <a:ext cx="515858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Segoe UI"/>
              </a:rPr>
              <a:t>PSAK 5-digit CoA · Intercompany &amp; consolidation · Fixed asset depreciation · PPh 21 TER · BPJS Kes/TK · SPT 1721 A1 · PPN DPP Nilai Lain · e-Faktur Coretax · Bupot Unifikasi — semua built-in, tidak perlu develop per vertikal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7" y="1005840"/>
            <a:ext cx="73152" cy="16916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3299" y="1005840"/>
            <a:ext cx="5451195" cy="169164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4467" y="1097280"/>
            <a:ext cx="51585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Segoe UI"/>
              </a:rPr>
              <a:t>Human Capital (Indonesian-localized, ready)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4467" y="1463040"/>
            <a:ext cx="515858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Segoe UI"/>
              </a:rPr>
              <a:t>Geofence attendance · Cuti UU Cipta Kerja · Performance appraisal 360 · Recruitment + job-board webhook · Expense OCR receipt · Billable timesheet -&gt; payroll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80360"/>
            <a:ext cx="73152" cy="16916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" y="2880360"/>
            <a:ext cx="5451195" cy="169164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971800"/>
            <a:ext cx="51585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Segoe UI"/>
              </a:rPr>
              <a:t>Sales · CRM · Commerce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337560"/>
            <a:ext cx="515858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Segoe UI"/>
              </a:rPr>
              <a:t>Predictive lead scoring · Drip campaigns · Mass email · Midtrans/Xendit/DOKU · JNE/JNT/SiCepat/AnterAja · Subscription MRR · Asset rental w/ BAST · WhatsApp QR event ticket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0147" y="2880360"/>
            <a:ext cx="73152" cy="16916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83299" y="2880360"/>
            <a:ext cx="5451195" cy="169164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4467" y="2971800"/>
            <a:ext cx="51585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Segoe UI"/>
              </a:rPr>
              <a:t>Service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4467" y="3337560"/>
            <a:ext cx="515858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Segoe UI"/>
              </a:rPr>
              <a:t>Helpdesk SLA + escalation · Field Service dispatch · Repairs w/ warranty · Appointments · Livechat -&gt; AI suggested reply · Frontdesk visitor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54880"/>
            <a:ext cx="73152" cy="16916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0352" y="4754880"/>
            <a:ext cx="5451195" cy="169164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846320"/>
            <a:ext cx="51585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Segoe UI"/>
              </a:rPr>
              <a:t>Manufacturing &amp; WMS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12080"/>
            <a:ext cx="515858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Segoe UI"/>
              </a:rPr>
              <a:t>MRP PLM (ECO + BoM versioning) · Quality + CAPA · Maintenance MTBF/MTTR · WMS putaway/cycle-count/to-engine · Mobile barcode · Zebra HHT PWA · IoT webhook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0147" y="4754880"/>
            <a:ext cx="73152" cy="16916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83299" y="4754880"/>
            <a:ext cx="5451195" cy="169164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4467" y="4846320"/>
            <a:ext cx="515858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Segoe UI"/>
              </a:rPr>
              <a:t>Productivity &amp; Cross-Cutting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4467" y="5212080"/>
            <a:ext cx="515858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Segoe UI"/>
              </a:rPr>
              <a:t>Studio-Lite (no-code customization) · Dashboards KPI + AI NLQ · Spreadsheet · Documents · E-signature · Knowledge wiki · Generic approval engine (delegation + OOO + SLA escalation)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Indonesian Localization Ready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Odoo 19 Platform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Aturan akunting, perpajakan, ketenagakerjaan, dan data protection Indonesia — built-in, package siap pakai per tenant.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08760"/>
          <a:ext cx="11277294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581"/>
                <a:gridCol w="8144713"/>
              </a:tblGrid>
              <a:tr h="886968">
                <a:tc>
                  <a:txBody>
                    <a:bodyPr lIns="73152" rIns="73152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Domain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Cakupan Localized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86968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Akunting (PSAK)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Chart of Accounts 5-digit aligned PSAK · Intercompany automation · Consolidation + eliminations · Fixed asset depreciation · Faktur Pengganti workflow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886968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Perpajakan (DJP)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e-Faktur Coretax (NSFP 17 digit PER-11/PJ/2025) · Bupot PPh 21/23/26/Unifikasi · PPh 21 TER (PP 58/2023) · PPN DPP Nilai Lain (PMK 131/2024) · Sertel Fernet-encrypted · Pajakku ASPP H2H adapter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HR &amp; Ketenagakerjaan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BPJS Kesehatan &amp; Ketenagakerjaan (JHT/JKK/JKM/JP) · PTKP &amp; THR · SPT 1721 A1 · Cuti UU Cipta Kerja · Payslip approval flow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886968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Data Protection (UU PDP)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Klasifikasi data field-level · Consent management · DSAR endpoint · Audit log append-only hash-chained · PII masking · Retention auto-purge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989320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Note: Pendekatan adapter pattern: ASP/regulasi berubah → swap implementasi tanpa ubah workflow tenant.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Simplified Deployment — Tenant Orchestrator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Odoo 19 Platform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Provisioning tenant baru otomatis, estimasi ~30 menit dari permintaan ke siap UAT.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6400800" cy="498348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Hub-Portal  (Vite + React 18 · port 18000)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Operator klik 'Provision Tenant'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Tenant Orchestrator (FastAPI)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             │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┌────────────┼────────────┐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    ▼            ▼            ▼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tenant1 DB   tenant2 DB   tenantN DB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  (isolated)   (isolated)   (isolated)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Shared plane: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• ai-gateway   • Postgres cluster   • Redis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• Object storage (filestore, sertel)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    • Observability (Prom/Grafana/Loki)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417320"/>
            <a:ext cx="4602175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0" y="1874520"/>
            <a:ext cx="4602175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1490472"/>
            <a:ext cx="432785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Key Decisions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901952"/>
            <a:ext cx="4602175" cy="449884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1965960"/>
            <a:ext cx="423641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Step 1 — SSH bootstrap target VPS (Docker + Caddy install)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Step 2 — Pull stack: Odoo + Postgres + Redis + module repo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Step 3 — Create database tenant + apply addons path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Step 4 — Install modul standar (sesuai profile vertikal)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Step 5 — Generate Caddy route + TLS otomatis (ACME)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Step 6 — Konfigurasi mail (SMTP / IMAP) + integrasi (Pajakku, payment)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Step 7 — Smoke test + handover ke PO untuk UAT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Total: ~30 menit / tenant — tidak perlu DevOps mandays manual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Centralized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Odoo 19 Platform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501487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5501487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78992"/>
            <a:ext cx="522716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Apa yang Dimonitor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90472"/>
            <a:ext cx="5501487" cy="449884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5135727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Odoo runtime metrics per tenant (requests, latency, error rate)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Database health (connections, slow query, replication lag)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AI gateway cost &amp; latency per tenant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Pajakku ASPP circuit state (open / closed / half-open)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Audit chain integrity (PDP hash-chain verifier nightly)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Tenant resource usage (CPU, memory, disk, filestore size)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Capacity forecast 7-hari via custom-predictor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TLS expiry, backup status, scheduler health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005840"/>
            <a:ext cx="5501487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463040"/>
            <a:ext cx="5501487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887" y="1078992"/>
            <a:ext cx="522716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Manfaat Operasional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1490472"/>
            <a:ext cx="5501487" cy="449884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1554480"/>
            <a:ext cx="5135727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1 dashboard Grafana untuk N tenant — bukan login per server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Alert centralized via Alertmanager → ops on-call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Proactive scaling — predictor rekomendasi upgrade hardware sebelum bottleneck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MTTR turun — runbook + log + metric satu tempat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Tenant SLA visible — laporan uptime per bulan otomatis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Cost attribution per tenant (AI, storage, compute)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Audit-ready: alert log + immutable trail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Stack: Prometheus (scrape 15s) · Grafana · Loki · Alertmanager · custom-predictor sidecar.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Security Posture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Odoo 19 Platform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501487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5501487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78992"/>
            <a:ext cx="522716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Application &amp; Data Isolation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90472"/>
            <a:ext cx="5501487" cy="491032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5135727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DB-per-tenant isolation — bukan schema-per-tenant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RBAC: Odoo groups + record rules per modul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Multi-tier approval w/ delegation, OOO, SLA escalation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Append-only audit log + PostgreSQL trigger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Tenant allow-list per request (HMAC-validated)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Secrets via SOPS-encrypted di repo + Fernet for sertel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005840"/>
            <a:ext cx="5501487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463040"/>
            <a:ext cx="5501487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887" y="1078992"/>
            <a:ext cx="522716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Infrastructure &amp; Pipeline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1490472"/>
            <a:ext cx="5501487" cy="491032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1554480"/>
            <a:ext cx="5135727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CIS-hardened distroless containers, non-root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AppArmor + seccomp profiles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TLS termination + HSTS (Caddy / nginx)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Pre-commit: gitleaks, ruff, bandit, hadolint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CI: Semgrep (SAST) + pip-audit + Trivy + cosign signing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Nightly pg_dumpall + DR runbook (drill executed Q2 2026)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AI Layer — Tertanam di Seluruh ERP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Odoo 19 Platform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501487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5501487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78992"/>
            <a:ext cx="522716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Infrastruktur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90472"/>
            <a:ext cx="5501487" cy="491032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5135727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ai-gateway (FastAPI sidecar) — multi-provider abstraction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Provider switch via env: Claude / OpenAI / Ollama (local)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HMAC-validated Odoo -&gt; gateway calls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Prompt caching untuk efisiensi cost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Per-tenant rate limit &amp; quota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custom-predictor — tabular ML, capacity forecasting 7-hari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005840"/>
            <a:ext cx="5501487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463040"/>
            <a:ext cx="5501487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887" y="1078992"/>
            <a:ext cx="522716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Fitur AI di Modul Bisnis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1490472"/>
            <a:ext cx="5501487" cy="491032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1554480"/>
            <a:ext cx="5135727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Ask AI server-action di 9 model utama (invoice, payslip, picking)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Anomaly Inbox — scan harian + severity + suggested action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NLQ Chat — query natural language dengan PDP masking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Document Auto-Classify — saran tag + classification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AI churn prediction (subscription)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AI suggested reply (livechat), moderation (forum)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AI OCR receipt (expense), task breakdown (todo)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111827"/>
                </a:solidFill>
                <a:latin typeface="Segoe UI"/>
              </a:rPr>
              <a:t>●  Predictive lead scoring (CRM), spreadsheet helpers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Business Value — Implementation Mandays per Tenant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Odoo 19 Platform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Estimasi standar onboarding 1 vertikal baru di Odoo Hub dengan semua modul standar siap pakai. Angka dalam tanda kurung = mandays opsional (hanya jika ada custom development).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08760"/>
          <a:ext cx="11277294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0140"/>
                <a:gridCol w="1342535"/>
                <a:gridCol w="1342535"/>
                <a:gridCol w="1342535"/>
                <a:gridCol w="1879549"/>
              </a:tblGrid>
              <a:tr h="341141">
                <a:tc>
                  <a:txBody>
                    <a:bodyPr lIns="73152" rIns="73152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Implementation Phase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ITBP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DevOps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Developer (opt)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341141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Requirement gathering / BRD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41141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Tenant provisioning (orchestrator)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141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Module activation (standard)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41141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Master data setup (CoA, partner, employee)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141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Configuration (RBAC, approval, workflow)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41141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Integration setup (Pajakku, payment, WA)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(2)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141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 module development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(3)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(15)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41141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UAT + bug-fix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(5)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141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Training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41141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Go-live + hypercare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141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Subtotal — tanpa custom dev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29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37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41148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Subtotal — dengan custom dev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989320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Note: Standar: ~77 mandays/tenant (lintas 3 role). Dengan 1 custom module: ~102 mandays. Baseline implementasi Odoo tradisional tanpa hub: ~200-300 mandays. Saving 60-70% per onboarding setelah library modul ready.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VAS Productization — 5 Product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Odoo 19 Platform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Platform Hub membuka monetisasi ke ekosistem Erajaya &amp; eksternal.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08760"/>
          <a:ext cx="11277294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7885"/>
                <a:gridCol w="4260311"/>
                <a:gridCol w="3759098"/>
              </a:tblGrid>
              <a:tr h="815340">
                <a:tc>
                  <a:txBody>
                    <a:bodyPr lIns="73152" rIns="73152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VAS Product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Modul Penopang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Target Market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1534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ERP-as-a-Service Multi-Tenant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Hub stack lengkap + orchestrator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Internal tenants &amp; afiliasi Erajaya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81534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Localized Compliance Bundle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custom_coretax* + Pajakku + custom_pdp_* + custom_hr_payroll_id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UMKM ekosistem Erajaya (Eraspace partners, F&amp;B franchisee)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AI Operations Layer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ai-gateway + custom_ai_features + predictor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Bundled tiap tenant; advanced tier opt-in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81534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HHT / Field Ops Bridge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custom_hht_bridge (Zebra PWA) + field_service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Service Center, distribution, warehouse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Vertical Template Accelerator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Repo modul + onboarding journey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Vertikal baru di dalam Erajaya Group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Odoo 19 Platform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2682163" cy="5486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2682163" cy="27432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24712"/>
            <a:ext cx="24078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Q2 2026 — DONE / IN PROGRESS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81912"/>
            <a:ext cx="2682163" cy="481888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645920"/>
            <a:ext cx="2407843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82 modul base shipping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Multi-tenant orchestrator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Pajakku ASPP adapter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Hub-Portal UI (Vite+React)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Production drill #1 executed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22243" y="1005840"/>
            <a:ext cx="2682163" cy="5486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22243" y="1554480"/>
            <a:ext cx="2682163" cy="2743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9403" y="1124712"/>
            <a:ext cx="24078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Q3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22243" y="1581912"/>
            <a:ext cx="2682163" cy="481888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9403" y="1645920"/>
            <a:ext cx="2407843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Onboard 3 internal vertical (F&amp;B, Service Center, Corp Svcs)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Centralized monitoring dashboard rollout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HHT rollout untuk service vertical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AI cost optimization (cache hit target 60%)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7287" y="1005840"/>
            <a:ext cx="2682163" cy="5486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7287" y="1554480"/>
            <a:ext cx="2682163" cy="2743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4447" y="1124712"/>
            <a:ext cx="24078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Q4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7287" y="1581912"/>
            <a:ext cx="2682163" cy="481888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4447" y="1645920"/>
            <a:ext cx="2407843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Onboard tenant 4–10 (target Y1)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Module reuse audit + dedup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ESG report otomatis (POJK 51/2017)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Marketplace add-on (3rd-party vertical modules)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331" y="1005840"/>
            <a:ext cx="2682163" cy="5486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2331" y="1554480"/>
            <a:ext cx="2682163" cy="2743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491" y="1124712"/>
            <a:ext cx="24078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2027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331" y="1581912"/>
            <a:ext cx="2682163" cy="4818888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491" y="1645920"/>
            <a:ext cx="2407843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Tenant 11–25 (post-ROI threshold)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Open partner program (ASPP, integrator)</a:t>
            </a:r>
          </a:p>
          <a:p>
            <a:pPr>
              <a:spcAft>
                <a:spcPts val="500"/>
              </a:spcAft>
            </a:pPr>
            <a:r>
              <a:rPr sz="1000">
                <a:solidFill>
                  <a:srgbClr val="111827"/>
                </a:solidFill>
                <a:latin typeface="Segoe UI"/>
              </a:rPr>
              <a:t>●  Localized Compliance Bundle GTM eksternal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Risks &amp; Mitigations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Odoo 19 Platform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005840"/>
          <a:ext cx="11277294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5614"/>
                <a:gridCol w="6891680"/>
              </a:tblGrid>
              <a:tr h="899160">
                <a:tc>
                  <a:txBody>
                    <a:bodyPr lIns="73152" rIns="73152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Mitigation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991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Odoo 19 upstream upgrade breaks customs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custom_studio_lite declarative, modules pinned 19.0.x.y, CI per release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8991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Pajakku API / Coretax submission gagal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Circuit breaker + manual fallback Coretax portal + ops alert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Tenant data leakage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DB-per-tenant + HMAC + tenant allow-list di ai-gateway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8991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AI cost explosion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Per-tenant quota + prompt cache + local Ollama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Mandays meleset dari estimasi karena scope creep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11827"/>
                          </a:solidFill>
                          <a:latin typeface="Segoe UI"/>
                        </a:rPr>
                        <a:t>BRD freeze sebelum provisioning · change request via approval engine · re-baseline per onboarding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egoe UI"/>
              </a:rPr>
              <a:t>Call to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Erajaya VAS  ·  Odoo 19 Platform  ·  Mei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74536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Segoe UI"/>
              </a:rPr>
              <a:t>Confidential — 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Segoe UI"/>
              </a:rPr>
              <a:t>Untuk Decision Maker Erajaya — endorsement &amp; pilot funding.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600200"/>
            <a:ext cx="640080" cy="64008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0020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Segoe UI"/>
              </a:rPr>
              <a:t>Endorsement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65960"/>
            <a:ext cx="10362895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Segoe UI"/>
              </a:rPr>
              <a:t>Odoo Hub sebagai backbone delivery ERP Erajaya Group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569464"/>
            <a:ext cx="640080" cy="64008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69464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Segoe UI"/>
              </a:rPr>
              <a:t>Pilot Funding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35224"/>
            <a:ext cx="10362895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Segoe UI"/>
              </a:rPr>
              <a:t>3 vertikal pertama (F&amp;B, Service Center, Corporate Services) — Q3 2026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538728"/>
            <a:ext cx="640080" cy="64008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538728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Segoe UI"/>
              </a:rPr>
              <a:t>Mandays Baseline Calibration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04488"/>
            <a:ext cx="10362895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Segoe UI"/>
              </a:rPr>
              <a:t>Lock estimasi mandays per vertikal selama 2 onboarding pertama untuk kalibrasi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507992"/>
            <a:ext cx="640080" cy="64008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507992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Segoe UI"/>
              </a:rPr>
              <a:t>Hiring Runway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73752"/>
            <a:ext cx="10362895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Segoe UI"/>
              </a:rPr>
              <a:t>2 senior backend, 1 SRE, 1 PO untuk scale Y1 -&gt; Y2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5477256"/>
            <a:ext cx="640080" cy="640080"/>
          </a:xfrm>
          <a:prstGeom prst="ellipse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477256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Segoe UI"/>
              </a:rPr>
              <a:t>GTM Eksternal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843016"/>
            <a:ext cx="10362895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Segoe UI"/>
              </a:rPr>
              <a:t>Localized Compliance Bundle sebagai produk eksternal Q4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7729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0" b="1">
                <a:solidFill>
                  <a:srgbClr val="1F2937"/>
                </a:solidFill>
                <a:latin typeface="Segoe UI"/>
              </a:rPr>
              <a:t>Terima Kasih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1447" y="3749039"/>
            <a:ext cx="1828800" cy="4572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>
                <a:solidFill>
                  <a:srgbClr val="374151"/>
                </a:solidFill>
                <a:latin typeface="Segoe UI"/>
              </a:rPr>
              <a:t>Diskusi &amp;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Segoe UI"/>
              </a:rPr>
              <a:t>Product Owner — Value-Added Services  ·  Erajaya  ·  Mei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